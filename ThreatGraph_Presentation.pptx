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9c1b418-c9f5-6327-89d6-d2baea6b0c81}">
          <p14:sldIdLst>
            <p14:sldId id="256"/>
          </p14:sldIdLst>
        </p14:section>
        <p14:section name="Problem" id="{e01ce8d4-0692-10e8-65b1-00dae205356e}">
          <p14:sldIdLst>
            <p14:sldId id="257"/>
          </p14:sldIdLst>
        </p14:section>
        <p14:section name="The data" id="{b31e691e-c027-418b-c969-f2ae2ce026e0}">
          <p14:sldIdLst>
            <p14:sldId id="258"/>
            <p14:sldId id="259"/>
            <p14:sldId id="260"/>
          </p14:sldIdLst>
        </p14:section>
        <p14:section name="How it works" id="{980f99e8-a757-d21b-5467-fcfdb39832ed}">
          <p14:sldIdLst>
            <p14:sldId id="261"/>
            <p14:sldId id="262"/>
            <p14:sldId id="263"/>
            <p14:sldId id="264"/>
          </p14:sldIdLst>
        </p14:section>
        <p14:section name="Demo" id="{1b8c3611-7d4f-e6bf-a1f5-df2b544c55e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ThreatGraph: a GraphRAG system on Neo4j. Introduce the team and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kinds of security information exist and are kept apart. The project joins them with a graph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node types and three relationship types. The dataset is a small hand-built set based on well-known real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groups with a plain-English nickname so the graphs are easy to read. Names and origins are from public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products across four vendors families. Databases are the focus of the main demo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talks to a Streamlit app. A local embedding model turns the question into a vector. Neo4j does the vector search and the graph walk. The Groq LLM only sees what Neo4j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 for the LLM: synthesis, text-to-Cypher, and verification. Model: openai/gpt-oss-120b served by Groq.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Query Lab tab. The LLM sees the schema and writes Cypher. The professor can read it, edit it and run it. Read-only is enforced by the database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idea: vector search finds where to start, the graph supplies the connections, the LLM only writes up what was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data, two routes. Ask a question is fuzzy and good for report text. Query Lab is exact and shows the query. Running the same question in both gives different graphs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extra questions. Each was run against the live database. Number 2 returns a path, so it is drawn as a graph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ThreatGraph  |  BCSE406L NoSQL Databases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ThreatGraph</a:t>
            </a:r>
            <a:endParaRPr lang="en-US" sz="54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2194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Neo4j GraphRAG engine that connects CVEs, threat actors, software and intelligence reports</a:t>
            </a:r>
            <a:endParaRPr lang="en-US" sz="18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3429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BCSE406L  |  NoSQL Databases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Shashwat Singh   |   Yuvraj Singh Hajari</a:t>
            </a:r>
            <a:endParaRPr lang="en-US" sz="1600" dirty="0"/>
          </a:p>
        </p:txBody>
      </p:sp>
      <p:sp>
        <p:nvSpPr>
          <p:cNvPr id="6" name="graph edge"/>
          <p:cNvSpPr/>
          <p:nvPr/>
        </p:nvSpPr>
        <p:spPr>
          <a:xfrm>
            <a:off x="6766560" y="1188720"/>
            <a:ext cx="1280160" cy="5486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7" name="graph edge"/>
          <p:cNvSpPr/>
          <p:nvPr/>
        </p:nvSpPr>
        <p:spPr>
          <a:xfrm>
            <a:off x="6766560" y="1188720"/>
            <a:ext cx="365760" cy="12801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8" name="graph edge"/>
          <p:cNvSpPr/>
          <p:nvPr/>
        </p:nvSpPr>
        <p:spPr>
          <a:xfrm>
            <a:off x="8046720" y="1737360"/>
            <a:ext cx="182880" cy="12801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9" name="graph edge"/>
          <p:cNvSpPr/>
          <p:nvPr/>
        </p:nvSpPr>
        <p:spPr>
          <a:xfrm>
            <a:off x="7132320" y="2468880"/>
            <a:ext cx="1097280" cy="5486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0" name="graph edge"/>
          <p:cNvSpPr/>
          <p:nvPr/>
        </p:nvSpPr>
        <p:spPr>
          <a:xfrm flipH="1">
            <a:off x="6400800" y="2468880"/>
            <a:ext cx="731520" cy="10972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1" name="graph edge"/>
          <p:cNvSpPr/>
          <p:nvPr/>
        </p:nvSpPr>
        <p:spPr>
          <a:xfrm flipH="1">
            <a:off x="7498080" y="3017520"/>
            <a:ext cx="731520" cy="10058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2" name="graph edge"/>
          <p:cNvSpPr/>
          <p:nvPr/>
        </p:nvSpPr>
        <p:spPr>
          <a:xfrm>
            <a:off x="6400800" y="3566160"/>
            <a:ext cx="1097280" cy="4572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3" name="graph edge"/>
          <p:cNvSpPr/>
          <p:nvPr/>
        </p:nvSpPr>
        <p:spPr>
          <a:xfrm>
            <a:off x="7132320" y="2468880"/>
            <a:ext cx="365760" cy="1554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4" name="graph node"/>
          <p:cNvSpPr/>
          <p:nvPr/>
        </p:nvSpPr>
        <p:spPr>
          <a:xfrm>
            <a:off x="6510528" y="93268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graph node"/>
          <p:cNvSpPr/>
          <p:nvPr/>
        </p:nvSpPr>
        <p:spPr>
          <a:xfrm>
            <a:off x="7845552" y="1536192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graph node"/>
          <p:cNvSpPr/>
          <p:nvPr/>
        </p:nvSpPr>
        <p:spPr>
          <a:xfrm>
            <a:off x="6903720" y="22402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graph node"/>
          <p:cNvSpPr/>
          <p:nvPr/>
        </p:nvSpPr>
        <p:spPr>
          <a:xfrm>
            <a:off x="7973568" y="2761488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graph node"/>
          <p:cNvSpPr/>
          <p:nvPr/>
        </p:nvSpPr>
        <p:spPr>
          <a:xfrm>
            <a:off x="6217920" y="33832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graph node"/>
          <p:cNvSpPr/>
          <p:nvPr/>
        </p:nvSpPr>
        <p:spPr>
          <a:xfrm>
            <a:off x="7296912" y="382219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structured card"/>
          <p:cNvSpPr/>
          <p:nvPr/>
        </p:nvSpPr>
        <p:spPr>
          <a:xfrm>
            <a:off x="457200" y="1280160"/>
            <a:ext cx="397764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"/>
          <p:cNvSpPr/>
          <p:nvPr/>
        </p:nvSpPr>
        <p:spPr>
          <a:xfrm>
            <a:off x="685800" y="14813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10058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Structured facts</a:t>
            </a:r>
            <a:endParaRPr lang="en-US" sz="1800" dirty="0"/>
          </a:p>
        </p:txBody>
      </p:sp>
      <p:sp>
        <p:nvSpPr>
          <p:cNvPr id="6" name="text"/>
          <p:cNvSpPr txBox="1"/>
          <p:nvPr/>
        </p:nvSpPr>
        <p:spPr>
          <a:xfrm>
            <a:off x="68580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CVEs, severity, affected software, and which group exploits what</a:t>
            </a:r>
            <a:endParaRPr lang="en-US" sz="1400" dirty="0"/>
          </a:p>
        </p:txBody>
      </p:sp>
      <p:sp>
        <p:nvSpPr>
          <p:cNvPr id="7" name="unstructured card"/>
          <p:cNvSpPr/>
          <p:nvPr/>
        </p:nvSpPr>
        <p:spPr>
          <a:xfrm>
            <a:off x="4709160" y="1280160"/>
            <a:ext cx="397764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4937760" y="1481328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525780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Unstructured text</a:t>
            </a:r>
            <a:endParaRPr lang="en-US" sz="1800" dirty="0"/>
          </a:p>
        </p:txBody>
      </p:sp>
      <p:sp>
        <p:nvSpPr>
          <p:cNvPr id="10" name="text"/>
          <p:cNvSpPr txBox="1"/>
          <p:nvPr/>
        </p:nvSpPr>
        <p:spPr>
          <a:xfrm>
            <a:off x="493776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Threat reports, advisories and mitigation write-ups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These two worlds are rarely connected. So an analyst asking: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Which groups target our databases, and how do we stop them?</a:t>
            </a:r>
            <a:endParaRPr lang="en-US" sz="2400" dirty="0"/>
          </a:p>
        </p:txBody>
      </p:sp>
      <p:sp>
        <p:nvSpPr>
          <p:cNvPr id="13" name="text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has to read reports and cross-check tables by hand.</a:t>
            </a:r>
            <a:endParaRPr lang="en-US" sz="1400" dirty="0"/>
          </a:p>
        </p:txBody>
      </p:sp>
      <p:sp>
        <p:nvSpPr>
          <p:cNvPr id="14" name="text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ThreatGraph: ask in plain English, get an answer grounded in a graph, with the evidence shown.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graph stores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457200" y="1280160"/>
            <a:ext cx="19659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4008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8</a:t>
            </a:r>
            <a:endParaRPr lang="en-US" sz="4400" dirty="0"/>
          </a:p>
        </p:txBody>
      </p:sp>
      <p:sp>
        <p:nvSpPr>
          <p:cNvPr id="5" name="text"/>
          <p:cNvSpPr txBox="1"/>
          <p:nvPr/>
        </p:nvSpPr>
        <p:spPr>
          <a:xfrm>
            <a:off x="6400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Threat actors</a:t>
            </a:r>
            <a:endParaRPr lang="en-US" sz="1600" dirty="0"/>
          </a:p>
        </p:txBody>
      </p:sp>
      <p:sp>
        <p:nvSpPr>
          <p:cNvPr id="6" name="text"/>
          <p:cNvSpPr txBox="1"/>
          <p:nvPr/>
        </p:nvSpPr>
        <p:spPr>
          <a:xfrm>
            <a:off x="64008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Hacker groups, e.g. FIN7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2560320" y="1280160"/>
            <a:ext cx="19659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274320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15</a:t>
            </a:r>
            <a:endParaRPr lang="en-US" sz="4400" dirty="0"/>
          </a:p>
        </p:txBody>
      </p:sp>
      <p:sp>
        <p:nvSpPr>
          <p:cNvPr id="9" name="text"/>
          <p:cNvSpPr txBox="1"/>
          <p:nvPr/>
        </p:nvSpPr>
        <p:spPr>
          <a:xfrm>
            <a:off x="27432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Vulnerabilities</a:t>
            </a:r>
            <a:endParaRPr lang="en-US" sz="1600" dirty="0"/>
          </a:p>
        </p:txBody>
      </p:sp>
      <p:sp>
        <p:nvSpPr>
          <p:cNvPr id="10" name="text"/>
          <p:cNvSpPr txBox="1"/>
          <p:nvPr/>
        </p:nvSpPr>
        <p:spPr>
          <a:xfrm>
            <a:off x="27432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Known software bugs (CVEs)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4663440" y="1280160"/>
            <a:ext cx="19659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484632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12</a:t>
            </a:r>
            <a:endParaRPr lang="en-US" sz="4400" dirty="0"/>
          </a:p>
        </p:txBody>
      </p:sp>
      <p:sp>
        <p:nvSpPr>
          <p:cNvPr id="13" name="text"/>
          <p:cNvSpPr txBox="1"/>
          <p:nvPr/>
        </p:nvSpPr>
        <p:spPr>
          <a:xfrm>
            <a:off x="48463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products</a:t>
            </a:r>
            <a:endParaRPr lang="en-US" sz="1600" dirty="0"/>
          </a:p>
        </p:txBody>
      </p:sp>
      <p:sp>
        <p:nvSpPr>
          <p:cNvPr id="14" name="text"/>
          <p:cNvSpPr txBox="1"/>
          <p:nvPr/>
        </p:nvSpPr>
        <p:spPr>
          <a:xfrm>
            <a:off x="484632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What gets attacked</a:t>
            </a:r>
            <a:endParaRPr lang="en-US" sz="1200" dirty="0"/>
          </a:p>
        </p:txBody>
      </p:sp>
      <p:sp>
        <p:nvSpPr>
          <p:cNvPr id="15" name="stat card"/>
          <p:cNvSpPr/>
          <p:nvPr/>
        </p:nvSpPr>
        <p:spPr>
          <a:xfrm>
            <a:off x="6766560" y="1280160"/>
            <a:ext cx="19659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94944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20</a:t>
            </a:r>
            <a:endParaRPr lang="en-US" sz="4400" dirty="0"/>
          </a:p>
        </p:txBody>
      </p:sp>
      <p:sp>
        <p:nvSpPr>
          <p:cNvPr id="17" name="text"/>
          <p:cNvSpPr txBox="1"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Intel reports</a:t>
            </a:r>
            <a:endParaRPr lang="en-US" sz="1600" dirty="0"/>
          </a:p>
        </p:txBody>
      </p:sp>
      <p:sp>
        <p:nvSpPr>
          <p:cNvPr id="18" name="text"/>
          <p:cNvSpPr txBox="1"/>
          <p:nvPr/>
        </p:nvSpPr>
        <p:spPr>
          <a:xfrm>
            <a:off x="694944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Written threat write-ups</a:t>
            </a:r>
            <a:endParaRPr lang="en-US" sz="1200" dirty="0"/>
          </a:p>
        </p:txBody>
      </p:sp>
      <p:sp>
        <p:nvSpPr>
          <p:cNvPr id="19" name="node chip"/>
          <p:cNvSpPr/>
          <p:nvPr/>
        </p:nvSpPr>
        <p:spPr>
          <a:xfrm>
            <a:off x="457200" y="329184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node chip label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Threat actor</a:t>
            </a:r>
            <a:endParaRPr lang="en-US" sz="1400" dirty="0"/>
          </a:p>
        </p:txBody>
      </p:sp>
      <p:sp>
        <p:nvSpPr>
          <p:cNvPr id="21" name="connector"/>
          <p:cNvSpPr/>
          <p:nvPr/>
        </p:nvSpPr>
        <p:spPr>
          <a:xfrm>
            <a:off x="2286000" y="3520440"/>
            <a:ext cx="1280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"/>
          <p:cNvSpPr txBox="1"/>
          <p:nvPr/>
        </p:nvSpPr>
        <p:spPr>
          <a:xfrm>
            <a:off x="228600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exploits</a:t>
            </a:r>
            <a:endParaRPr lang="en-US" sz="1200" dirty="0"/>
          </a:p>
        </p:txBody>
      </p:sp>
      <p:sp>
        <p:nvSpPr>
          <p:cNvPr id="23" name="node chip"/>
          <p:cNvSpPr/>
          <p:nvPr/>
        </p:nvSpPr>
        <p:spPr>
          <a:xfrm>
            <a:off x="3566160" y="329184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4" name="node chip label"/>
          <p:cNvSpPr txBox="1"/>
          <p:nvPr/>
        </p:nvSpPr>
        <p:spPr>
          <a:xfrm>
            <a:off x="356616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Vulnerability</a:t>
            </a:r>
            <a:endParaRPr lang="en-US" sz="1400" dirty="0"/>
          </a:p>
        </p:txBody>
      </p:sp>
      <p:sp>
        <p:nvSpPr>
          <p:cNvPr id="25" name="connector"/>
          <p:cNvSpPr/>
          <p:nvPr/>
        </p:nvSpPr>
        <p:spPr>
          <a:xfrm>
            <a:off x="5394960" y="3520440"/>
            <a:ext cx="1280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"/>
          <p:cNvSpPr txBox="1"/>
          <p:nvPr/>
        </p:nvSpPr>
        <p:spPr>
          <a:xfrm>
            <a:off x="539496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affects</a:t>
            </a:r>
            <a:endParaRPr lang="en-US" sz="1200" dirty="0"/>
          </a:p>
        </p:txBody>
      </p:sp>
      <p:sp>
        <p:nvSpPr>
          <p:cNvPr id="27" name="node chip"/>
          <p:cNvSpPr/>
          <p:nvPr/>
        </p:nvSpPr>
        <p:spPr>
          <a:xfrm>
            <a:off x="6675120" y="329184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8" name="node chip label"/>
          <p:cNvSpPr txBox="1"/>
          <p:nvPr/>
        </p:nvSpPr>
        <p:spPr>
          <a:xfrm>
            <a:off x="667512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Software</a:t>
            </a:r>
            <a:endParaRPr lang="en-US" sz="1400" dirty="0"/>
          </a:p>
        </p:txBody>
      </p:sp>
      <p:sp>
        <p:nvSpPr>
          <p:cNvPr id="29" name="node chip"/>
          <p:cNvSpPr/>
          <p:nvPr/>
        </p:nvSpPr>
        <p:spPr>
          <a:xfrm>
            <a:off x="457200" y="402336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0" name="node chip label"/>
          <p:cNvSpPr txBox="1"/>
          <p:nvPr/>
        </p:nvSpPr>
        <p:spPr>
          <a:xfrm>
            <a:off x="45720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</a:t>
            </a:r>
            <a:endParaRPr lang="en-US" sz="1400" dirty="0"/>
          </a:p>
        </p:txBody>
      </p:sp>
      <p:sp>
        <p:nvSpPr>
          <p:cNvPr id="31" name="connector"/>
          <p:cNvSpPr/>
          <p:nvPr/>
        </p:nvSpPr>
        <p:spPr>
          <a:xfrm>
            <a:off x="2286000" y="4251960"/>
            <a:ext cx="1280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"/>
          <p:cNvSpPr txBox="1"/>
          <p:nvPr/>
        </p:nvSpPr>
        <p:spPr>
          <a:xfrm>
            <a:off x="22860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describes</a:t>
            </a:r>
            <a:endParaRPr lang="en-US" sz="1200" dirty="0"/>
          </a:p>
        </p:txBody>
      </p:sp>
      <p:sp>
        <p:nvSpPr>
          <p:cNvPr id="33" name="node chip"/>
          <p:cNvSpPr/>
          <p:nvPr/>
        </p:nvSpPr>
        <p:spPr>
          <a:xfrm>
            <a:off x="3566160" y="4023360"/>
            <a:ext cx="256032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4" name="node chip label"/>
          <p:cNvSpPr txBox="1"/>
          <p:nvPr/>
        </p:nvSpPr>
        <p:spPr>
          <a:xfrm>
            <a:off x="356616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Vulnerability or actor</a:t>
            </a:r>
            <a:endParaRPr lang="en-US" sz="1400" dirty="0"/>
          </a:p>
        </p:txBody>
      </p:sp>
      <p:sp>
        <p:nvSpPr>
          <p:cNvPr id="35" name="text"/>
          <p:cNvSpPr txBox="1"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Mock data based on real, public cases such as Log4Shell and Zerologon.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Threat actors</a:t>
            </a:r>
            <a:endParaRPr lang="en-US" sz="3400" dirty="0"/>
          </a:p>
        </p:txBody>
      </p:sp>
      <p:graphicFrame>
        <p:nvGraphicFramePr>
          <p:cNvPr id="5" name="threat act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73736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 plain words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Origin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Motive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APT29 (Cozy Bear)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Russian spy group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Russia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Espionage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FIN7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Card-theft gang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Russia / Ukraine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Financial gain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Lazarus Group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 Korean hackers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 Korea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Money + espionage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APT41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Chinese spy-and-crime group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China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Espionage + money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Sandworm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Russian sabotage unit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Russia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Sabotage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Scattered Spider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Help-desk scammers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International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Financial gain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Volt Typhoon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Chinese infrastructure spies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China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Pre-positioning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Conti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Ransomware gang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Russia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Ransomware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Software and vendors</a:t>
            </a:r>
            <a:endParaRPr lang="en-US" sz="3400" dirty="0"/>
          </a:p>
        </p:txBody>
      </p:sp>
      <p:sp>
        <p:nvSpPr>
          <p:cNvPr id="3" name="software card"/>
          <p:cNvSpPr/>
          <p:nvPr/>
        </p:nvSpPr>
        <p:spPr>
          <a:xfrm>
            <a:off x="457200" y="123444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"/>
          <p:cNvSpPr/>
          <p:nvPr/>
        </p:nvSpPr>
        <p:spPr>
          <a:xfrm>
            <a:off x="640080" y="141732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9601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Databases</a:t>
            </a:r>
            <a:endParaRPr lang="en-US" sz="1600" dirty="0"/>
          </a:p>
        </p:txBody>
      </p:sp>
      <p:sp>
        <p:nvSpPr>
          <p:cNvPr id="6" name="software item"/>
          <p:cNvSpPr txBox="1"/>
          <p:nvPr/>
        </p:nvSpPr>
        <p:spPr>
          <a:xfrm>
            <a:off x="64008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Oracle Database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Oracle</a:t>
            </a:r>
            <a:endParaRPr lang="en-US" sz="1400" dirty="0"/>
          </a:p>
        </p:txBody>
      </p:sp>
      <p:sp>
        <p:nvSpPr>
          <p:cNvPr id="7" name="software item"/>
          <p:cNvSpPr txBox="1"/>
          <p:nvPr/>
        </p:nvSpPr>
        <p:spPr>
          <a:xfrm>
            <a:off x="64008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MySQL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Oracle</a:t>
            </a:r>
            <a:endParaRPr lang="en-US" sz="1400" dirty="0"/>
          </a:p>
        </p:txBody>
      </p:sp>
      <p:sp>
        <p:nvSpPr>
          <p:cNvPr id="8" name="software item"/>
          <p:cNvSpPr txBox="1"/>
          <p:nvPr/>
        </p:nvSpPr>
        <p:spPr>
          <a:xfrm>
            <a:off x="640080" y="2935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MongoDB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MongoDB Inc.</a:t>
            </a:r>
            <a:endParaRPr lang="en-US" sz="1400" dirty="0"/>
          </a:p>
        </p:txBody>
      </p:sp>
      <p:sp>
        <p:nvSpPr>
          <p:cNvPr id="9" name="software item"/>
          <p:cNvSpPr txBox="1"/>
          <p:nvPr/>
        </p:nvSpPr>
        <p:spPr>
          <a:xfrm>
            <a:off x="640080" y="34655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Microsoft SQL Server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Microsoft</a:t>
            </a:r>
            <a:endParaRPr lang="en-US" sz="1400" dirty="0"/>
          </a:p>
        </p:txBody>
      </p:sp>
      <p:sp>
        <p:nvSpPr>
          <p:cNvPr id="10" name="software card"/>
          <p:cNvSpPr/>
          <p:nvPr/>
        </p:nvSpPr>
        <p:spPr>
          <a:xfrm>
            <a:off x="3246120" y="123444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3429000" y="141732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37490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Network devices</a:t>
            </a:r>
            <a:endParaRPr lang="en-US" sz="1600" dirty="0"/>
          </a:p>
        </p:txBody>
      </p:sp>
      <p:sp>
        <p:nvSpPr>
          <p:cNvPr id="13" name="software item"/>
          <p:cNvSpPr txBox="1"/>
          <p:nvPr/>
        </p:nvSpPr>
        <p:spPr>
          <a:xfrm>
            <a:off x="342900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Fortinet FortiOS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Fortinet</a:t>
            </a:r>
            <a:endParaRPr lang="en-US" sz="1400" dirty="0"/>
          </a:p>
        </p:txBody>
      </p:sp>
      <p:sp>
        <p:nvSpPr>
          <p:cNvPr id="14" name="software item"/>
          <p:cNvSpPr txBox="1"/>
          <p:nvPr/>
        </p:nvSpPr>
        <p:spPr>
          <a:xfrm>
            <a:off x="342900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Citrix ADC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Citrix</a:t>
            </a:r>
            <a:endParaRPr lang="en-US" sz="1400" dirty="0"/>
          </a:p>
        </p:txBody>
      </p:sp>
      <p:sp>
        <p:nvSpPr>
          <p:cNvPr id="15" name="software item"/>
          <p:cNvSpPr txBox="1"/>
          <p:nvPr/>
        </p:nvSpPr>
        <p:spPr>
          <a:xfrm>
            <a:off x="3429000" y="2935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Cisco IOS XE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Cisco</a:t>
            </a:r>
            <a:endParaRPr lang="en-US" sz="1400" dirty="0"/>
          </a:p>
        </p:txBody>
      </p:sp>
      <p:sp>
        <p:nvSpPr>
          <p:cNvPr id="16" name="software card"/>
          <p:cNvSpPr/>
          <p:nvPr/>
        </p:nvSpPr>
        <p:spPr>
          <a:xfrm>
            <a:off x="6035040" y="123444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6217920" y="141732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65379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Everything else</a:t>
            </a:r>
            <a:endParaRPr lang="en-US" sz="1600" dirty="0"/>
          </a:p>
        </p:txBody>
      </p:sp>
      <p:sp>
        <p:nvSpPr>
          <p:cNvPr id="19" name="software item"/>
          <p:cNvSpPr txBox="1"/>
          <p:nvPr/>
        </p:nvSpPr>
        <p:spPr>
          <a:xfrm>
            <a:off x="621792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Windows Server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Microsoft, operating system</a:t>
            </a:r>
            <a:endParaRPr lang="en-US" sz="1400" dirty="0"/>
          </a:p>
        </p:txBody>
      </p:sp>
      <p:sp>
        <p:nvSpPr>
          <p:cNvPr id="20" name="software item"/>
          <p:cNvSpPr txBox="1"/>
          <p:nvPr/>
        </p:nvSpPr>
        <p:spPr>
          <a:xfrm>
            <a:off x="621792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Exchange Server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Microsoft, email</a:t>
            </a:r>
            <a:endParaRPr lang="en-US" sz="1400" dirty="0"/>
          </a:p>
        </p:txBody>
      </p:sp>
      <p:sp>
        <p:nvSpPr>
          <p:cNvPr id="21" name="software item"/>
          <p:cNvSpPr txBox="1"/>
          <p:nvPr/>
        </p:nvSpPr>
        <p:spPr>
          <a:xfrm>
            <a:off x="6217920" y="2935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Apache Log4j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Apache, logging library</a:t>
            </a:r>
            <a:endParaRPr lang="en-US" sz="1400" dirty="0"/>
          </a:p>
        </p:txBody>
      </p:sp>
      <p:sp>
        <p:nvSpPr>
          <p:cNvPr id="22" name="software item"/>
          <p:cNvSpPr txBox="1"/>
          <p:nvPr/>
        </p:nvSpPr>
        <p:spPr>
          <a:xfrm>
            <a:off x="6217920" y="34655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VMware ESXi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VMware, virtualization</a:t>
            </a:r>
            <a:endParaRPr lang="en-US" sz="1400" dirty="0"/>
          </a:p>
        </p:txBody>
      </p:sp>
      <p:sp>
        <p:nvSpPr>
          <p:cNvPr id="23" name="software item"/>
          <p:cNvSpPr txBox="1"/>
          <p:nvPr/>
        </p:nvSpPr>
        <p:spPr>
          <a:xfrm>
            <a:off x="6217920" y="3995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Atlassian Confluence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Atlassian, collaboration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architecture box"/>
          <p:cNvSpPr/>
          <p:nvPr/>
        </p:nvSpPr>
        <p:spPr>
          <a:xfrm>
            <a:off x="365760" y="2560320"/>
            <a:ext cx="1371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architecture label"/>
          <p:cNvSpPr txBox="1"/>
          <p:nvPr/>
        </p:nvSpPr>
        <p:spPr>
          <a:xfrm>
            <a:off x="438912" y="256032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asks in English</a:t>
            </a:r>
            <a:endParaRPr lang="en-US" sz="1500" dirty="0"/>
          </a:p>
        </p:txBody>
      </p:sp>
      <p:sp>
        <p:nvSpPr>
          <p:cNvPr id="5" name="architecture box"/>
          <p:cNvSpPr/>
          <p:nvPr/>
        </p:nvSpPr>
        <p:spPr>
          <a:xfrm>
            <a:off x="2194560" y="2560320"/>
            <a:ext cx="155448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architecture label"/>
          <p:cNvSpPr txBox="1"/>
          <p:nvPr/>
        </p:nvSpPr>
        <p:spPr>
          <a:xfrm>
            <a:off x="2267712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Streamlit app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 interface</a:t>
            </a:r>
            <a:endParaRPr lang="en-US" sz="1500" dirty="0"/>
          </a:p>
        </p:txBody>
      </p:sp>
      <p:sp>
        <p:nvSpPr>
          <p:cNvPr id="7" name="architecture box"/>
          <p:cNvSpPr/>
          <p:nvPr/>
        </p:nvSpPr>
        <p:spPr>
          <a:xfrm>
            <a:off x="2194560" y="1280160"/>
            <a:ext cx="15544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architecture label"/>
          <p:cNvSpPr txBox="1"/>
          <p:nvPr/>
        </p:nvSpPr>
        <p:spPr>
          <a:xfrm>
            <a:off x="2267712" y="12801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Embedding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MiniLM, local</a:t>
            </a:r>
            <a:endParaRPr lang="en-US" sz="1500" dirty="0"/>
          </a:p>
        </p:txBody>
      </p:sp>
      <p:sp>
        <p:nvSpPr>
          <p:cNvPr id="9" name="architecture box"/>
          <p:cNvSpPr/>
          <p:nvPr/>
        </p:nvSpPr>
        <p:spPr>
          <a:xfrm>
            <a:off x="4480560" y="2560320"/>
            <a:ext cx="20116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rchitecture label"/>
          <p:cNvSpPr txBox="1"/>
          <p:nvPr/>
        </p:nvSpPr>
        <p:spPr>
          <a:xfrm>
            <a:off x="4553712" y="2560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Neo4j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property graph + vector indexes</a:t>
            </a:r>
            <a:endParaRPr lang="en-US" sz="1500" dirty="0"/>
          </a:p>
        </p:txBody>
      </p:sp>
      <p:sp>
        <p:nvSpPr>
          <p:cNvPr id="11" name="architecture box"/>
          <p:cNvSpPr/>
          <p:nvPr/>
        </p:nvSpPr>
        <p:spPr>
          <a:xfrm>
            <a:off x="7223760" y="2560320"/>
            <a:ext cx="155448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architecture label"/>
          <p:cNvSpPr txBox="1"/>
          <p:nvPr/>
        </p:nvSpPr>
        <p:spPr>
          <a:xfrm>
            <a:off x="7296912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LLM (Groq)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writes and checks</a:t>
            </a:r>
            <a:endParaRPr lang="en-US" sz="1500" dirty="0"/>
          </a:p>
        </p:txBody>
      </p:sp>
      <p:sp>
        <p:nvSpPr>
          <p:cNvPr id="13" name="connector"/>
          <p:cNvSpPr/>
          <p:nvPr/>
        </p:nvSpPr>
        <p:spPr>
          <a:xfrm>
            <a:off x="1737360" y="297180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onnector"/>
          <p:cNvSpPr/>
          <p:nvPr/>
        </p:nvSpPr>
        <p:spPr>
          <a:xfrm flipV="1">
            <a:off x="2971800" y="2011680"/>
            <a:ext cx="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"/>
          <p:cNvSpPr txBox="1"/>
          <p:nvPr/>
        </p:nvSpPr>
        <p:spPr>
          <a:xfrm>
            <a:off x="31089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embed the question</a:t>
            </a:r>
            <a:endParaRPr lang="en-US" sz="1200" dirty="0"/>
          </a:p>
        </p:txBody>
      </p:sp>
      <p:sp>
        <p:nvSpPr>
          <p:cNvPr id="16" name="connector"/>
          <p:cNvSpPr/>
          <p:nvPr/>
        </p:nvSpPr>
        <p:spPr>
          <a:xfrm>
            <a:off x="3749040" y="297180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"/>
          <p:cNvSpPr txBox="1"/>
          <p:nvPr/>
        </p:nvSpPr>
        <p:spPr>
          <a:xfrm>
            <a:off x="374904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Cypher + vector</a:t>
            </a:r>
            <a:endParaRPr lang="en-US" sz="1100" dirty="0"/>
          </a:p>
        </p:txBody>
      </p:sp>
      <p:sp>
        <p:nvSpPr>
          <p:cNvPr id="18" name="connector"/>
          <p:cNvSpPr/>
          <p:nvPr/>
        </p:nvSpPr>
        <p:spPr>
          <a:xfrm>
            <a:off x="6492240" y="297180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"/>
          <p:cNvSpPr txBox="1"/>
          <p:nvPr/>
        </p:nvSpPr>
        <p:spPr>
          <a:xfrm>
            <a:off x="649224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retrieved nodes</a:t>
            </a:r>
            <a:endParaRPr lang="en-US" sz="1100" dirty="0"/>
          </a:p>
        </p:txBody>
      </p:sp>
      <p:sp>
        <p:nvSpPr>
          <p:cNvPr id="20" name="connector"/>
          <p:cNvSpPr/>
          <p:nvPr/>
        </p:nvSpPr>
        <p:spPr>
          <a:xfrm>
            <a:off x="8001000" y="3383280"/>
            <a:ext cx="0" cy="7315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1" name="connector"/>
          <p:cNvSpPr/>
          <p:nvPr/>
        </p:nvSpPr>
        <p:spPr>
          <a:xfrm flipH="1">
            <a:off x="2971800" y="4114800"/>
            <a:ext cx="5029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2" name="connector"/>
          <p:cNvSpPr/>
          <p:nvPr/>
        </p:nvSpPr>
        <p:spPr>
          <a:xfrm flipV="1">
            <a:off x="2971800" y="3383280"/>
            <a:ext cx="0" cy="7315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"/>
          <p:cNvSpPr txBox="1"/>
          <p:nvPr/>
        </p:nvSpPr>
        <p:spPr>
          <a:xfrm>
            <a:off x="320040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answer, graph and fact-check go back to the user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LLM comes in</a:t>
            </a:r>
            <a:endParaRPr lang="en-US" sz="3400" dirty="0"/>
          </a:p>
        </p:txBody>
      </p:sp>
      <p:sp>
        <p:nvSpPr>
          <p:cNvPr id="3" name="number badge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ber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118872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 writes the answer</a:t>
            </a:r>
            <a:endParaRPr lang="en-US" sz="2000" dirty="0"/>
          </a:p>
        </p:txBody>
      </p:sp>
      <p:sp>
        <p:nvSpPr>
          <p:cNvPr id="6" name="text"/>
          <p:cNvSpPr txBox="1"/>
          <p:nvPr/>
        </p:nvSpPr>
        <p:spPr>
          <a:xfrm>
            <a:off x="118872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gets only the nodes retrieved from the graph, and must answer from them or say the context is not enough.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number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"/>
          <p:cNvSpPr txBox="1"/>
          <p:nvPr/>
        </p:nvSpPr>
        <p:spPr>
          <a:xfrm>
            <a:off x="1188720" y="2240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 translates English into Cypher</a:t>
            </a:r>
            <a:endParaRPr lang="en-US" sz="2000" dirty="0"/>
          </a:p>
        </p:txBody>
      </p:sp>
      <p:sp>
        <p:nvSpPr>
          <p:cNvPr id="10" name="text"/>
          <p:cNvSpPr txBox="1"/>
          <p:nvPr/>
        </p:nvSpPr>
        <p:spPr>
          <a:xfrm>
            <a:off x="1188720" y="2606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Given the graph schema, it turns a plain question into a read-only query that we show to the user.</a:t>
            </a:r>
            <a:endParaRPr lang="en-US" sz="1400" dirty="0"/>
          </a:p>
        </p:txBody>
      </p:sp>
      <p:sp>
        <p:nvSpPr>
          <p:cNvPr id="11" name="number badge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ber"/>
          <p:cNvSpPr txBox="1"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"/>
          <p:cNvSpPr txBox="1"/>
          <p:nvPr/>
        </p:nvSpPr>
        <p:spPr>
          <a:xfrm>
            <a:off x="1188720" y="3200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 fact-checks the answer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1188720" y="3566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second pass splits the answer into claims and marks each as supported or not by the retrieved nodes.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never stores data and never searches the database itself. Embeddings come from a separate local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English becomes a query</a:t>
            </a:r>
            <a:endParaRPr lang="en-US" sz="3400" dirty="0"/>
          </a:p>
        </p:txBody>
      </p:sp>
      <p:sp>
        <p:nvSpPr>
          <p:cNvPr id="3" name="flow step"/>
          <p:cNvSpPr/>
          <p:nvPr/>
        </p:nvSpPr>
        <p:spPr>
          <a:xfrm>
            <a:off x="457200" y="12801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flow label"/>
          <p:cNvSpPr txBox="1"/>
          <p:nvPr/>
        </p:nvSpPr>
        <p:spPr>
          <a:xfrm>
            <a:off x="502920" y="12801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English question</a:t>
            </a:r>
            <a:endParaRPr lang="en-US" sz="1200" dirty="0"/>
          </a:p>
        </p:txBody>
      </p:sp>
      <p:sp>
        <p:nvSpPr>
          <p:cNvPr id="5" name="connector"/>
          <p:cNvSpPr/>
          <p:nvPr/>
        </p:nvSpPr>
        <p:spPr>
          <a:xfrm>
            <a:off x="1874520" y="169164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flow step"/>
          <p:cNvSpPr/>
          <p:nvPr/>
        </p:nvSpPr>
        <p:spPr>
          <a:xfrm>
            <a:off x="2148840" y="12801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flow label"/>
          <p:cNvSpPr txBox="1"/>
          <p:nvPr/>
        </p:nvSpPr>
        <p:spPr>
          <a:xfrm>
            <a:off x="2194560" y="12801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LLM + graph schema</a:t>
            </a:r>
            <a:endParaRPr lang="en-US" sz="1200" dirty="0"/>
          </a:p>
        </p:txBody>
      </p:sp>
      <p:sp>
        <p:nvSpPr>
          <p:cNvPr id="8" name="connector"/>
          <p:cNvSpPr/>
          <p:nvPr/>
        </p:nvSpPr>
        <p:spPr>
          <a:xfrm>
            <a:off x="3566160" y="169164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step"/>
          <p:cNvSpPr/>
          <p:nvPr/>
        </p:nvSpPr>
        <p:spPr>
          <a:xfrm>
            <a:off x="3840480" y="12801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 label"/>
          <p:cNvSpPr txBox="1"/>
          <p:nvPr/>
        </p:nvSpPr>
        <p:spPr>
          <a:xfrm>
            <a:off x="3886200" y="12801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Cypher shown to the user</a:t>
            </a:r>
            <a:endParaRPr lang="en-US" sz="1200" dirty="0"/>
          </a:p>
        </p:txBody>
      </p:sp>
      <p:sp>
        <p:nvSpPr>
          <p:cNvPr id="11" name="connector"/>
          <p:cNvSpPr/>
          <p:nvPr/>
        </p:nvSpPr>
        <p:spPr>
          <a:xfrm>
            <a:off x="5257800" y="169164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flow step"/>
          <p:cNvSpPr/>
          <p:nvPr/>
        </p:nvSpPr>
        <p:spPr>
          <a:xfrm>
            <a:off x="5532120" y="12801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flow label"/>
          <p:cNvSpPr txBox="1"/>
          <p:nvPr/>
        </p:nvSpPr>
        <p:spPr>
          <a:xfrm>
            <a:off x="5577840" y="12801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Neo4j runs the query</a:t>
            </a:r>
            <a:endParaRPr lang="en-US" sz="1200" dirty="0"/>
          </a:p>
        </p:txBody>
      </p:sp>
      <p:sp>
        <p:nvSpPr>
          <p:cNvPr id="14" name="connector"/>
          <p:cNvSpPr/>
          <p:nvPr/>
        </p:nvSpPr>
        <p:spPr>
          <a:xfrm>
            <a:off x="6949440" y="169164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flow step"/>
          <p:cNvSpPr/>
          <p:nvPr/>
        </p:nvSpPr>
        <p:spPr>
          <a:xfrm>
            <a:off x="7223760" y="12801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low label"/>
          <p:cNvSpPr txBox="1"/>
          <p:nvPr/>
        </p:nvSpPr>
        <p:spPr>
          <a:xfrm>
            <a:off x="7269480" y="12801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Table + graph</a:t>
            </a:r>
            <a:endParaRPr lang="en-US" sz="1200" dirty="0"/>
          </a:p>
        </p:txBody>
      </p:sp>
      <p:sp>
        <p:nvSpPr>
          <p:cNvPr id="17" name="example card"/>
          <p:cNvSpPr/>
          <p:nvPr/>
        </p:nvSpPr>
        <p:spPr>
          <a:xfrm>
            <a:off x="457200" y="2377440"/>
            <a:ext cx="32918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640080" y="2514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 QUESTION</a:t>
            </a:r>
            <a:endParaRPr lang="en-US" sz="1200" dirty="0"/>
          </a:p>
        </p:txBody>
      </p:sp>
      <p:sp>
        <p:nvSpPr>
          <p:cNvPr id="19" name="text"/>
          <p:cNvSpPr txBox="1"/>
          <p:nvPr/>
        </p:nvSpPr>
        <p:spPr>
          <a:xfrm>
            <a:off x="64008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Which actors exploit vulnerabilities in database software?</a:t>
            </a:r>
            <a:endParaRPr lang="en-US" sz="1700" dirty="0"/>
          </a:p>
        </p:txBody>
      </p:sp>
      <p:sp>
        <p:nvSpPr>
          <p:cNvPr id="20" name="text"/>
          <p:cNvSpPr txBox="1"/>
          <p:nvPr/>
        </p:nvSpPr>
        <p:spPr>
          <a:xfrm>
            <a:off x="64008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Result: 4 rows, drawn as a graph of actors, bugs and databases.</a:t>
            </a:r>
            <a:endParaRPr lang="en-US" sz="1300" dirty="0"/>
          </a:p>
        </p:txBody>
      </p:sp>
      <p:sp>
        <p:nvSpPr>
          <p:cNvPr id="21" name="code panel"/>
          <p:cNvSpPr/>
          <p:nvPr/>
        </p:nvSpPr>
        <p:spPr>
          <a:xfrm>
            <a:off x="3931920" y="2377440"/>
            <a:ext cx="4754880" cy="1965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generated cypher"/>
          <p:cNvSpPr txBox="1"/>
          <p:nvPr/>
        </p:nvSpPr>
        <p:spPr>
          <a:xfrm>
            <a:off x="4114800" y="251460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(a:ThreatActor)-[r1:EXPLOITS]-&gt;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(v:Vulnerability)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(v)-[r2:AFFECTS]-&gt;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(s:Software {category:'Database System'})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a, r1, v, r2, s</a:t>
            </a:r>
            <a:endParaRPr lang="en-US" sz="1200" dirty="0"/>
          </a:p>
        </p:txBody>
      </p:sp>
      <p:sp>
        <p:nvSpPr>
          <p:cNvPr id="23" name="text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user can edit the Cypher and re-run it. Writes are blocked by Neo4j unless unlocked.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GraphRAG: search, then follow the links</a:t>
            </a:r>
            <a:endParaRPr lang="en-US" sz="3400" dirty="0"/>
          </a:p>
        </p:txBody>
      </p:sp>
      <p:sp>
        <p:nvSpPr>
          <p:cNvPr id="3" name="step card"/>
          <p:cNvSpPr/>
          <p:nvPr/>
        </p:nvSpPr>
        <p:spPr>
          <a:xfrm>
            <a:off x="457200" y="1280160"/>
            <a:ext cx="26517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ber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"/>
          <p:cNvSpPr txBox="1"/>
          <p:nvPr/>
        </p:nvSpPr>
        <p:spPr>
          <a:xfrm>
            <a:off x="11887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Vector search</a:t>
            </a:r>
            <a:endParaRPr lang="en-US" sz="1800" dirty="0"/>
          </a:p>
        </p:txBody>
      </p:sp>
      <p:sp>
        <p:nvSpPr>
          <p:cNvPr id="7" name="text"/>
          <p:cNvSpPr txBox="1"/>
          <p:nvPr/>
        </p:nvSpPr>
        <p:spPr>
          <a:xfrm>
            <a:off x="64008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question becomes an embedding. The closest reports and CVEs become the starting nodes.</a:t>
            </a:r>
            <a:endParaRPr lang="en-US" sz="1400" dirty="0"/>
          </a:p>
        </p:txBody>
      </p:sp>
      <p:sp>
        <p:nvSpPr>
          <p:cNvPr id="8" name="step card"/>
          <p:cNvSpPr/>
          <p:nvPr/>
        </p:nvSpPr>
        <p:spPr>
          <a:xfrm>
            <a:off x="3246120" y="1280160"/>
            <a:ext cx="26517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badge"/>
          <p:cNvSpPr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ber"/>
          <p:cNvSpPr txBox="1"/>
          <p:nvPr/>
        </p:nvSpPr>
        <p:spPr>
          <a:xfrm>
            <a:off x="34290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3977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 walk</a:t>
            </a:r>
            <a:endParaRPr lang="en-US" sz="1800" dirty="0"/>
          </a:p>
        </p:txBody>
      </p:sp>
      <p:sp>
        <p:nvSpPr>
          <p:cNvPr id="12" name="text"/>
          <p:cNvSpPr txBox="1"/>
          <p:nvPr/>
        </p:nvSpPr>
        <p:spPr>
          <a:xfrm>
            <a:off x="342900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each start node, follow up to 2 hops to connected actors, CVEs, software and reports.</a:t>
            </a:r>
            <a:endParaRPr lang="en-US" sz="1400" dirty="0"/>
          </a:p>
        </p:txBody>
      </p:sp>
      <p:sp>
        <p:nvSpPr>
          <p:cNvPr id="13" name="step card"/>
          <p:cNvSpPr/>
          <p:nvPr/>
        </p:nvSpPr>
        <p:spPr>
          <a:xfrm>
            <a:off x="6035040" y="1280160"/>
            <a:ext cx="26517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badge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ber"/>
          <p:cNvSpPr txBox="1"/>
          <p:nvPr/>
        </p:nvSpPr>
        <p:spPr>
          <a:xfrm>
            <a:off x="6217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67665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Answer</a:t>
            </a:r>
            <a:endParaRPr lang="en-US" sz="1800" dirty="0"/>
          </a:p>
        </p:txBody>
      </p:sp>
      <p:sp>
        <p:nvSpPr>
          <p:cNvPr id="17" name="text"/>
          <p:cNvSpPr txBox="1"/>
          <p:nvPr/>
        </p:nvSpPr>
        <p:spPr>
          <a:xfrm>
            <a:off x="621792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LLM writes the answer from the collected nodes only, and the graph is drawn.</a:t>
            </a:r>
            <a:endParaRPr lang="en-US" sz="1400" dirty="0"/>
          </a:p>
        </p:txBody>
      </p:sp>
      <p:sp>
        <p:nvSpPr>
          <p:cNvPr id="18" name="plain rag card"/>
          <p:cNvSpPr/>
          <p:nvPr/>
        </p:nvSpPr>
        <p:spPr>
          <a:xfrm>
            <a:off x="457200" y="3474720"/>
            <a:ext cx="402336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Plain RAG</a:t>
            </a:r>
            <a:endParaRPr lang="en-US" sz="1600" dirty="0"/>
          </a:p>
        </p:txBody>
      </p:sp>
      <p:sp>
        <p:nvSpPr>
          <p:cNvPr id="20" name="text"/>
          <p:cNvSpPr txBox="1"/>
          <p:nvPr/>
        </p:nvSpPr>
        <p:spPr>
          <a:xfrm>
            <a:off x="64008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Finds text that looks similar. Cannot join actor, CVE and software if no single document says it.</a:t>
            </a:r>
            <a:endParaRPr lang="en-US" sz="1300" dirty="0"/>
          </a:p>
        </p:txBody>
      </p:sp>
      <p:sp>
        <p:nvSpPr>
          <p:cNvPr id="21" name="graphrag card"/>
          <p:cNvSpPr/>
          <p:nvPr/>
        </p:nvSpPr>
        <p:spPr>
          <a:xfrm>
            <a:off x="4663440" y="3474720"/>
            <a:ext cx="402336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GraphRAG</a:t>
            </a:r>
            <a:endParaRPr lang="en-US" sz="1600" dirty="0"/>
          </a:p>
        </p:txBody>
      </p:sp>
      <p:sp>
        <p:nvSpPr>
          <p:cNvPr id="23" name="text"/>
          <p:cNvSpPr txBox="1"/>
          <p:nvPr/>
        </p:nvSpPr>
        <p:spPr>
          <a:xfrm>
            <a:off x="484632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Also follows the links, so a chain spread across many records is still found.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Ask a question vs Query Lab</a:t>
            </a:r>
            <a:endParaRPr lang="en-US" sz="34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Ask a question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Query Lab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You type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plain question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English, or your own Cypher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Finds data by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Vector similarity, then a 2-hop walk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 exact Cypher pattern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LLM's job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Writes the answer, then fact-checks 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Writes the Cypher only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You get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Answer, graph, grounding check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Cypher, table, graph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Text-based, fuzzy: how do we mitigate it?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Precise: who exploits what, counts, paths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Same question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Wider graph, some loosely related nodes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Narrow graph, exact matches only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More example queries</a:t>
            </a:r>
            <a:endParaRPr lang="en-US" sz="3400" dirty="0"/>
          </a:p>
        </p:txBody>
      </p:sp>
      <p:sp>
        <p:nvSpPr>
          <p:cNvPr id="3" name="number badge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ber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1051560" y="118872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Which actors target Microsoft products?</a:t>
            </a:r>
            <a:endParaRPr lang="en-US" sz="1400" dirty="0"/>
          </a:p>
        </p:txBody>
      </p:sp>
      <p:sp>
        <p:nvSpPr>
          <p:cNvPr id="6" name="text"/>
          <p:cNvSpPr txBox="1"/>
          <p:nvPr/>
        </p:nvSpPr>
        <p:spPr>
          <a:xfrm>
            <a:off x="1051560" y="145389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(a:ThreatActor)-[:EXPLOITS]-&gt;(:Vulnerability)-[:AFFECTS]-&gt;(s:Software {vendor:'Microsoft'}) RETURN a.name, collect(DISTINCT s.name)</a:t>
            </a:r>
            <a:endParaRPr lang="en-US" sz="1000" dirty="0"/>
          </a:p>
        </p:txBody>
      </p:sp>
      <p:sp>
        <p:nvSpPr>
          <p:cNvPr id="7" name="number badge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ber"/>
          <p:cNvSpPr txBox="1"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"/>
          <p:cNvSpPr txBox="1"/>
          <p:nvPr/>
        </p:nvSpPr>
        <p:spPr>
          <a:xfrm>
            <a:off x="1051560" y="1892808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Show everything connected to Zerologon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051560" y="215798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p = (v:Vulnerability {cve_id:'CVE-2020-1472'})-[*1..2]-(x) RETURN p</a:t>
            </a:r>
            <a:endParaRPr lang="en-US" sz="1000" dirty="0"/>
          </a:p>
        </p:txBody>
      </p:sp>
      <p:sp>
        <p:nvSpPr>
          <p:cNvPr id="11" name="number badge"/>
          <p:cNvSpPr/>
          <p:nvPr/>
        </p:nvSpPr>
        <p:spPr>
          <a:xfrm>
            <a:off x="457200" y="2642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ber"/>
          <p:cNvSpPr txBox="1"/>
          <p:nvPr/>
        </p:nvSpPr>
        <p:spPr>
          <a:xfrm>
            <a:off x="4572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"/>
          <p:cNvSpPr txBox="1"/>
          <p:nvPr/>
        </p:nvSpPr>
        <p:spPr>
          <a:xfrm>
            <a:off x="1051560" y="259689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Which critical flaws hit network devices, and what is the fix?</a:t>
            </a:r>
            <a:endParaRPr lang="en-US" sz="1400" dirty="0"/>
          </a:p>
        </p:txBody>
      </p:sp>
      <p:sp>
        <p:nvSpPr>
          <p:cNvPr id="14" name="text"/>
          <p:cNvSpPr txBox="1"/>
          <p:nvPr/>
        </p:nvSpPr>
        <p:spPr>
          <a:xfrm>
            <a:off x="1051560" y="286207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(v:Vulnerability {severity:'Critical'})-[:AFFECTS]-&gt;(s:Software {category:'Network Device'}) RETURN s.name, v.nickname, v.mitigation</a:t>
            </a:r>
            <a:endParaRPr lang="en-US" sz="1000" dirty="0"/>
          </a:p>
        </p:txBody>
      </p:sp>
      <p:sp>
        <p:nvSpPr>
          <p:cNvPr id="15" name="number badge"/>
          <p:cNvSpPr/>
          <p:nvPr/>
        </p:nvSpPr>
        <p:spPr>
          <a:xfrm>
            <a:off x="457200" y="33467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ber"/>
          <p:cNvSpPr txBox="1"/>
          <p:nvPr/>
        </p:nvSpPr>
        <p:spPr>
          <a:xfrm>
            <a:off x="4572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1051560" y="330098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Which intel reports describe each actor?</a:t>
            </a:r>
            <a:endParaRPr lang="en-US" sz="1400" dirty="0"/>
          </a:p>
        </p:txBody>
      </p:sp>
      <p:sp>
        <p:nvSpPr>
          <p:cNvPr id="18" name="text"/>
          <p:cNvSpPr txBox="1"/>
          <p:nvPr/>
        </p:nvSpPr>
        <p:spPr>
          <a:xfrm>
            <a:off x="1051560" y="35661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(r:Report)-[:DESCRIBES]-&gt;(a:ThreatActor) RETURN a.name, collect(r.title)</a:t>
            </a:r>
            <a:endParaRPr lang="en-US" sz="1000" dirty="0"/>
          </a:p>
        </p:txBody>
      </p:sp>
      <p:sp>
        <p:nvSpPr>
          <p:cNvPr id="19" name="number badge"/>
          <p:cNvSpPr/>
          <p:nvPr/>
        </p:nvSpPr>
        <p:spPr>
          <a:xfrm>
            <a:off x="4572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ber"/>
          <p:cNvSpPr txBox="1"/>
          <p:nvPr/>
        </p:nvSpPr>
        <p:spPr>
          <a:xfrm>
            <a:off x="4572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"/>
          <p:cNvSpPr txBox="1"/>
          <p:nvPr/>
        </p:nvSpPr>
        <p:spPr>
          <a:xfrm>
            <a:off x="1051560" y="400507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many products does each Russian actor reach?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1051560" y="427024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(a:ThreatActor)-[:EXPLOITS]-&gt;(:Vulnerability)-[:AFFECTS]-&gt;(s:Software) WHERE a.origin CONTAINS 'Russia' RETURN a.name, count(DISTINCT s) AS products ORDER BY products DESC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atGraph">
  <a:themeElements>
    <a:clrScheme name="ThreatGraph">
      <a:dk1>
        <a:srgbClr val="131A1E"/>
      </a:dk1>
      <a:lt1>
        <a:srgbClr val="FFFFFF"/>
      </a:lt1>
      <a:dk2>
        <a:srgbClr val="5C6B72"/>
      </a:dk2>
      <a:lt2>
        <a:srgbClr val="F2F5F6"/>
      </a:lt2>
      <a:accent1>
        <a:srgbClr val="1C7A72"/>
      </a:accent1>
      <a:accent2>
        <a:srgbClr val="E5484D"/>
      </a:accent2>
      <a:accent3>
        <a:srgbClr val="F5A524"/>
      </a:accent3>
      <a:accent4>
        <a:srgbClr val="3E8EF7"/>
      </a:accent4>
      <a:accent5>
        <a:srgbClr val="30A46C"/>
      </a:accent5>
      <a:accent6>
        <a:srgbClr val="8B8D98"/>
      </a:accent6>
      <a:hlink>
        <a:srgbClr val="1C7A72"/>
      </a:hlink>
      <a:folHlink>
        <a:srgbClr val="5C6B72"/>
      </a:folHlink>
    </a:clrScheme>
    <a:fontScheme name="ThreatGrap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ThreatGraph</dc:title>
  <dc:subject>BCSE406L NoSQL Databases</dc:subject>
  <dc:creator>Shashwat Singh, Yuvraj Singh Hajari</dc:creator>
  <cp:lastModifiedBy>Shashwat Singh, Yuvraj Singh Hajari</cp:lastModifiedBy>
  <cp:revision>1</cp:revision>
  <dcterms:created xsi:type="dcterms:W3CDTF">2026-10-29T07:24:56Z</dcterms:created>
  <dcterms:modified xsi:type="dcterms:W3CDTF">2026-10-29T07:24:56Z</dcterms:modified>
</cp:coreProperties>
</file>